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7d4a94e5474cfb" /><Relationship Type="http://schemas.openxmlformats.org/officeDocument/2006/relationships/extended-properties" Target="/docProps/app.xml" Id="Rfca79514f9e64fa4" /><Relationship Type="http://schemas.openxmlformats.org/officeDocument/2006/relationships/officeDocument" Target="/ppt/presentation.xml" Id="R6b633c4f74ce44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53a2f96e884498"/>
  </p:sldMasterIdLst>
  <p:notesMasterIdLst>
    <p:notesMasterId xmlns:r="http://schemas.openxmlformats.org/officeDocument/2006/relationships" r:id="R24d3da7706854662"/>
  </p:notesMasterIdLst>
  <p:sldIdLst>
    <p:sldId xmlns:r="http://schemas.openxmlformats.org/officeDocument/2006/relationships" id="256" r:id="R9cf20b0d4d894743"/>
    <p:sldId xmlns:r="http://schemas.openxmlformats.org/officeDocument/2006/relationships" id="257" r:id="R0228ca07cb454581"/>
    <p:sldId xmlns:r="http://schemas.openxmlformats.org/officeDocument/2006/relationships" id="258" r:id="R1e874937724a4221"/>
    <p:sldId xmlns:r="http://schemas.openxmlformats.org/officeDocument/2006/relationships" id="259" r:id="R5365be0f35cd45c6"/>
    <p:sldId xmlns:r="http://schemas.openxmlformats.org/officeDocument/2006/relationships" id="260" r:id="Rc3b85e2fe8e0474d"/>
    <p:sldId xmlns:r="http://schemas.openxmlformats.org/officeDocument/2006/relationships" id="261" r:id="Rcf12ed350e6d4ca3"/>
    <p:sldId xmlns:r="http://schemas.openxmlformats.org/officeDocument/2006/relationships" id="262" r:id="Ra376cf0ac72d4e9a"/>
    <p:sldId xmlns:r="http://schemas.openxmlformats.org/officeDocument/2006/relationships" id="263" r:id="R85e9d2ce677a440d"/>
    <p:sldId xmlns:r="http://schemas.openxmlformats.org/officeDocument/2006/relationships" id="264" r:id="R105397ac684c4ce8"/>
    <p:sldId xmlns:r="http://schemas.openxmlformats.org/officeDocument/2006/relationships" id="265" r:id="R1b2f5ffcab5c43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b723201eb64048" /><Relationship Type="http://schemas.openxmlformats.org/officeDocument/2006/relationships/slideMaster" Target="/ppt/slideMasters/slideMaster1.xml" Id="R6753a2f96e884498" /><Relationship Type="http://schemas.openxmlformats.org/officeDocument/2006/relationships/notesMaster" Target="/ppt/notesMasters/notesMaster1.xml" Id="R24d3da7706854662" /><Relationship Type="http://schemas.openxmlformats.org/officeDocument/2006/relationships/presProps" Target="/ppt/presProps.xml" Id="Ref7e4c88566b4bce" /><Relationship Type="http://schemas.openxmlformats.org/officeDocument/2006/relationships/tableStyles" Target="/ppt/tableStyles.xml" Id="Re23c72241ff64d6f" /><Relationship Type="http://schemas.openxmlformats.org/officeDocument/2006/relationships/slide" Target="/ppt/slides/slide1.xml" Id="R9cf20b0d4d894743" /><Relationship Type="http://schemas.openxmlformats.org/officeDocument/2006/relationships/slide" Target="/ppt/slides/slide2.xml" Id="R0228ca07cb454581" /><Relationship Type="http://schemas.openxmlformats.org/officeDocument/2006/relationships/slide" Target="/ppt/slides/slide3.xml" Id="R1e874937724a4221" /><Relationship Type="http://schemas.openxmlformats.org/officeDocument/2006/relationships/slide" Target="/ppt/slides/slide4.xml" Id="R5365be0f35cd45c6" /><Relationship Type="http://schemas.openxmlformats.org/officeDocument/2006/relationships/slide" Target="/ppt/slides/slide5.xml" Id="Rc3b85e2fe8e0474d" /><Relationship Type="http://schemas.openxmlformats.org/officeDocument/2006/relationships/slide" Target="/ppt/slides/slide6.xml" Id="Rcf12ed350e6d4ca3" /><Relationship Type="http://schemas.openxmlformats.org/officeDocument/2006/relationships/slide" Target="/ppt/slides/slide7.xml" Id="Ra376cf0ac72d4e9a" /><Relationship Type="http://schemas.openxmlformats.org/officeDocument/2006/relationships/slide" Target="/ppt/slides/slide8.xml" Id="R85e9d2ce677a440d" /><Relationship Type="http://schemas.openxmlformats.org/officeDocument/2006/relationships/slide" Target="/ppt/slides/slide9.xml" Id="R105397ac684c4ce8" /><Relationship Type="http://schemas.openxmlformats.org/officeDocument/2006/relationships/slide" Target="/ppt/slides/slide10.xml" Id="R1b2f5ffcab5c43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9275608ca64d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abe7c0b21e40a3" /><Relationship Type="http://schemas.openxmlformats.org/officeDocument/2006/relationships/notesMaster" Target="/ppt/notesMasters/notesMaster1.xml" Id="R9c0dbfd4e7eb41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ccb9715d624fbb" /><Relationship Type="http://schemas.openxmlformats.org/officeDocument/2006/relationships/notesMaster" Target="/ppt/notesMasters/notesMaster1.xml" Id="R7ab287d58fcd48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d63caff25248a3" /><Relationship Type="http://schemas.openxmlformats.org/officeDocument/2006/relationships/notesMaster" Target="/ppt/notesMasters/notesMaster1.xml" Id="Rf78304c4175b4b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9a67762bd64441" /><Relationship Type="http://schemas.openxmlformats.org/officeDocument/2006/relationships/notesMaster" Target="/ppt/notesMasters/notesMaster1.xml" Id="R0caa56eea1e344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245b9455214cd8" /><Relationship Type="http://schemas.openxmlformats.org/officeDocument/2006/relationships/notesMaster" Target="/ppt/notesMasters/notesMaster1.xml" Id="Rcfc063a005b24a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b00b0f4dec4862" /><Relationship Type="http://schemas.openxmlformats.org/officeDocument/2006/relationships/notesMaster" Target="/ppt/notesMasters/notesMaster1.xml" Id="Rab55a717f70a4d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4004cfbba14697" /><Relationship Type="http://schemas.openxmlformats.org/officeDocument/2006/relationships/notesMaster" Target="/ppt/notesMasters/notesMaster1.xml" Id="Rc251d08d81a445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df51d01c0b450e" /><Relationship Type="http://schemas.openxmlformats.org/officeDocument/2006/relationships/notesMaster" Target="/ppt/notesMasters/notesMaster1.xml" Id="R4773f7fe69b049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d41b2444b34534" /><Relationship Type="http://schemas.openxmlformats.org/officeDocument/2006/relationships/notesMaster" Target="/ppt/notesMasters/notesMaster1.xml" Id="R539f4f57a6a245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a786f5aafb4e0e" /><Relationship Type="http://schemas.openxmlformats.org/officeDocument/2006/relationships/notesMaster" Target="/ppt/notesMasters/notesMaster1.xml" Id="Re4f7beb644b744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revision: 661aacc80e207cf8f9cddf7bb571e59feaaf41a6</a:t>
            </a:r>
          </a:p>
          <a:p xmlns:a="http://schemas.openxmlformats.org/drawingml/2006/main">
            <a:r>
              <a:t>https://github.com/ntfound-dev/Vinss-canton/blob/661aacc80e207cf8f9cddf7bb571e59feaaf41a6/README.md</a:t>
            </a:r>
          </a:p>
          <a:p xmlns:a="http://schemas.openxmlformats.org/drawingml/2006/main">
            <a:r>
              <a:t>https://github.com/ntfound-dev/Vinss-canton/blob/661aacc80e207cf8f9cddf7bb571e59feaaf41a6/docs/BUSINESS_BRIEF.md</a:t>
            </a:r>
          </a:p>
          <a:p xmlns:a="http://schemas.openxmlformats.org/drawingml/2006/main">
            <a:r>
              <a:t>HackCanton League Season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revision: 661aacc80e207cf8f9cddf7bb571e59feaaf41a6</a:t>
            </a:r>
          </a:p>
          <a:p xmlns:a="http://schemas.openxmlformats.org/drawingml/2006/main">
            <a:r>
              <a:t>https://github.com/ntfound-dev/Vinss-canton/blob/661aacc80e207cf8f9cddf7bb571e59feaaf41a6/docs/VALUE_STATEMENT.md</a:t>
            </a:r>
          </a:p>
          <a:p xmlns:a="http://schemas.openxmlformats.org/drawingml/2006/main">
            <a:r>
              <a:t>Initial use case: one client and one freelancer completing a defined digital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revision: 661aacc80e207cf8f9cddf7bb571e59feaaf41a6</a:t>
            </a:r>
          </a:p>
          <a:p xmlns:a="http://schemas.openxmlformats.org/drawingml/2006/main">
            <a:r>
              <a:t>https://github.com/ntfound-dev/Vinss-canton/blob/661aacc80e207cf8f9cddf7bb571e59feaaf41a6/docs/ESCROW.md</a:t>
            </a:r>
          </a:p>
          <a:p xmlns:a="http://schemas.openxmlformats.org/drawingml/2006/main">
            <a:r>
              <a:t>https://github.com/ntfound-dev/Vinss-canton/blob/661aacc80e207cf8f9cddf7bb571e59feaaf41a6/frontend/lib/canton-room-runtime.ts</a:t>
            </a:r>
          </a:p>
          <a:p xmlns:a="http://schemas.openxmlformats.org/drawingml/2006/main">
            <a:r>
              <a:t>Encrypted group chat supports team discussion. Escrow currently uses two-person rooms.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revision: 661aacc80e207cf8f9cddf7bb571e59feaaf41a6</a:t>
            </a:r>
          </a:p>
          <a:p xmlns:a="http://schemas.openxmlformats.org/drawingml/2006/main">
            <a:r>
              <a:t>https://github.com/ntfound-dev/Vinss-canton/blob/661aacc80e207cf8f9cddf7bb571e59feaaf41a6/docs/ESCROW.md</a:t>
            </a:r>
          </a:p>
          <a:p xmlns:a="http://schemas.openxmlformats.org/drawingml/2006/main">
            <a:r>
              <a:t>https://github.com/ntfound-dev/Vinss-canton/blob/661aacc80e207cf8f9cddf7bb571e59feaaf41a6/daml/Vinss/Deal.daml</a:t>
            </a:r>
          </a:p>
          <a:p xmlns:a="http://schemas.openxmlformats.org/drawingml/2006/main">
            <a:r>
              <a:t>VINSS references the allocation. The current module has no dispute or refund choice.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revision: 661aacc80e207cf8f9cddf7bb571e59feaaf41a6</a:t>
            </a:r>
          </a:p>
          <a:p xmlns:a="http://schemas.openxmlformats.org/drawingml/2006/main">
            <a:r>
              <a:t>https://github.com/ntfound-dev/Vinss-canton/blob/661aacc80e207cf8f9cddf7bb571e59feaaf41a6/docs/ARCHITECTURE.md</a:t>
            </a:r>
          </a:p>
          <a:p xmlns:a="http://schemas.openxmlformats.org/drawingml/2006/main">
            <a:r>
              <a:t>https://github.com/ntfound-dev/Vinss-canton/blob/661aacc80e207cf8f9cddf7bb571e59feaaf41a6/docs/TECHNICAL_OVERVIEW.md</a:t>
            </a:r>
          </a:p>
          <a:p xmlns:a="http://schemas.openxmlformats.org/drawingml/2006/main">
            <a:r>
              <a:t>Authorized ledger viewers can see deal metadata, including amounts and Parties.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revision: 661aacc80e207cf8f9cddf7bb571e59feaaf41a6</a:t>
            </a:r>
          </a:p>
          <a:p xmlns:a="http://schemas.openxmlformats.org/drawingml/2006/main">
            <a:r>
              <a:t>https://github.com/ntfound-dev/Vinss-canton/blob/661aacc80e207cf8f9cddf7bb571e59feaaf41a6/docs/CANTON_DEVNET_E2E.md#verified-devnet-run-evidence</a:t>
            </a:r>
          </a:p>
          <a:p xmlns:a="http://schemas.openxmlformats.org/drawingml/2006/main">
            <a:r>
              <a:t>https://github.com/ntfound-dev/Vinss-canton/blob/661aacc80e207cf8f9cddf7bb571e59feaaf41a6/docs/MESSAGING_E2E.md</a:t>
            </a:r>
          </a:p>
          <a:p xmlns:a="http://schemas.openxmlformats.org/drawingml/2006/main">
            <a:r>
              <a:t>The updated browser-wallet messaging flow still needs a fresh live recording.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revision: 661aacc80e207cf8f9cddf7bb571e59feaaf41a6</a:t>
            </a:r>
          </a:p>
          <a:p xmlns:a="http://schemas.openxmlformats.org/drawingml/2006/main">
            <a:r>
              <a:t>https://github.com/ntfound-dev/Vinss-canton/blob/661aacc80e207cf8f9cddf7bb571e59feaaf41a6/docs/ICP_AUDIENCE.md</a:t>
            </a:r>
          </a:p>
          <a:p xmlns:a="http://schemas.openxmlformats.org/drawingml/2006/main">
            <a:r>
              <a:t>https://github.com/ntfound-dev/Vinss-canton/blob/661aacc80e207cf8f9cddf7bb571e59feaaf41a6/docs/PILOT_PLAN.md</a:t>
            </a:r>
          </a:p>
          <a:p xmlns:a="http://schemas.openxmlformats.org/drawingml/2006/main">
            <a:r>
              <a:t>Proposed audience and pilot. Customer demand and retention are not yet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revision: 661aacc80e207cf8f9cddf7bb571e59feaaf41a6</a:t>
            </a:r>
          </a:p>
          <a:p xmlns:a="http://schemas.openxmlformats.org/drawingml/2006/main">
            <a:r>
              <a:t>https://github.com/ntfound-dev/Vinss-canton/blob/661aacc80e207cf8f9cddf7bb571e59feaaf41a6/docs/GTM.md</a:t>
            </a:r>
          </a:p>
          <a:p xmlns:a="http://schemas.openxmlformats.org/drawingml/2006/main">
            <a:r>
              <a:t>https://github.com/ntfound-dev/Vinss-canton/blob/661aacc80e207cf8f9cddf7bb571e59feaaf41a6/frontend/app/rewards/page.tsx</a:t>
            </a:r>
          </a:p>
          <a:p xmlns:a="http://schemas.openxmlformats.org/drawingml/2006/main">
            <a:r>
              <a:t>VIP billing and Points issuance are pending. Private chat and escrow are core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revision: 661aacc80e207cf8f9cddf7bb571e59feaaf41a6</a:t>
            </a:r>
          </a:p>
          <a:p xmlns:a="http://schemas.openxmlformats.org/drawingml/2006/main">
            <a:r>
              <a:t>https://github.com/ntfound-dev/Vinss-canton/blob/661aacc80e207cf8f9cddf7bb571e59feaaf41a6/docs/METRICS_VALIDATION.md</a:t>
            </a:r>
          </a:p>
          <a:p xmlns:a="http://schemas.openxmlformats.org/drawingml/2006/main">
            <a:r>
              <a:t>https://github.com/ntfound-dev/Vinss-canton/blob/661aacc80e207cf8f9cddf7bb571e59feaaf41a6/docs/GTM.md</a:t>
            </a:r>
          </a:p>
          <a:p xmlns:a="http://schemas.openxmlformats.org/drawingml/2006/main">
            <a:r>
              <a:t>Targets are proposed, not achieved results. Report raw counts for the 3-5-pair cohort.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revision: 661aacc80e207cf8f9cddf7bb571e59feaaf41a6</a:t>
            </a:r>
          </a:p>
          <a:p xmlns:a="http://schemas.openxmlformats.org/drawingml/2006/main">
            <a:r>
              <a:t>https://github.com/ntfound-dev/Vinss-canton/blob/661aacc80e207cf8f9cddf7bb571e59feaaf41a6/docs/PILOT_PLAN.md</a:t>
            </a:r>
          </a:p>
          <a:p xmlns:a="http://schemas.openxmlformats.org/drawingml/2006/main">
            <a:r>
              <a:t>https://github.com/ntfound-dev/Vinss-canton/blob/661aacc80e207cf8f9cddf7bb571e59feaaf41a6/docs/SUBMISSION.md</a:t>
            </a:r>
          </a:p>
          <a:p xmlns:a="http://schemas.openxmlformats.org/drawingml/2006/main">
            <a:r>
              <a:t>Next product decisions: recovery, dispute/refund handling, self-service listings and VIP. Multichain follows Canton.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ee2b95c5140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da61ba78454e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87685d4f224e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64fb4aed245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e18d837214b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9a20092dc747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58A3253-A575-40C1-BA16-50BAC72C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526BF32-E1AA-4761-A697-B53F063DC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1B4BD9B-466E-4A6F-BFCA-DC358E7770F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D9D100F-B8D5-4FBD-9FAB-9A8E53F4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0D8773-E9C3-434F-8F0A-05AA4898A1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11DAC91-9D20-4A2D-8D80-7E6E15FD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AA28D8-7237-40A3-BB93-2981D2D906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8663886-D5CB-4732-AF70-45D32E4267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9FDFD33-5CB2-46E3-9D42-EA2B91A1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F56A57-0804-4E10-8F24-EB4786665D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04CA69-EEF1-4F50-9374-0EA455E7F8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B2F8FD1-B713-46E9-91C0-CCF1B42A5F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ED18772-1FB5-44C2-A50E-83AC06C2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25FCE8F-4A14-4859-AE94-109B97FB25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B54EF3-EDF2-4481-94C7-D2846CF098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5d57c6881647d6" /><Relationship Type="http://schemas.openxmlformats.org/officeDocument/2006/relationships/slideLayout" Target="/ppt/slideLayouts/slideLayout1.xml" Id="R15556f0675594592" /><Relationship Type="http://schemas.openxmlformats.org/officeDocument/2006/relationships/slideLayout" Target="/ppt/slideLayouts/slideLayout2.xml" Id="R234cb9de48074213" /><Relationship Type="http://schemas.openxmlformats.org/officeDocument/2006/relationships/slideLayout" Target="/ppt/slideLayouts/slideLayout3.xml" Id="Rc53d235872f04ef5" /><Relationship Type="http://schemas.openxmlformats.org/officeDocument/2006/relationships/slideLayout" Target="/ppt/slideLayouts/slideLayout4.xml" Id="Rc537d852b6c046bd" /><Relationship Type="http://schemas.openxmlformats.org/officeDocument/2006/relationships/slideLayout" Target="/ppt/slideLayouts/slideLayout5.xml" Id="R0a1484d4e8c84abb" /><Relationship Type="http://schemas.openxmlformats.org/officeDocument/2006/relationships/slideLayout" Target="/ppt/slideLayouts/slideLayout6.xml" Id="Rf88422df1cf144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556f0675594592"/>
    <p:sldLayoutId xmlns:r="http://schemas.openxmlformats.org/officeDocument/2006/relationships" id="2147483650" r:id="R234cb9de48074213"/>
    <p:sldLayoutId xmlns:r="http://schemas.openxmlformats.org/officeDocument/2006/relationships" id="2147483651" r:id="Rc53d235872f04ef5"/>
    <p:sldLayoutId xmlns:r="http://schemas.openxmlformats.org/officeDocument/2006/relationships" id="2147483652" r:id="Rc537d852b6c046bd"/>
    <p:sldLayoutId xmlns:r="http://schemas.openxmlformats.org/officeDocument/2006/relationships" id="2147483653" r:id="R0a1484d4e8c84abb"/>
    <p:sldLayoutId xmlns:r="http://schemas.openxmlformats.org/officeDocument/2006/relationships" id="2147483654" r:id="Rf88422df1cf144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a28eb7ecd54655" /><Relationship Type="http://schemas.openxmlformats.org/officeDocument/2006/relationships/notesSlide" Target="/ppt/notesSlides/notesSlide1.xml" Id="Rf628ea8f46df4e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bb4312afe74954" /><Relationship Type="http://schemas.openxmlformats.org/officeDocument/2006/relationships/notesSlide" Target="/ppt/notesSlides/notesSlide2.xml" Id="R5580b6c6961942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59f5fe269142ac" /><Relationship Type="http://schemas.openxmlformats.org/officeDocument/2006/relationships/notesSlide" Target="/ppt/notesSlides/notesSlide3.xml" Id="R49887465a6904f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c1938a859a40b0" /><Relationship Type="http://schemas.openxmlformats.org/officeDocument/2006/relationships/notesSlide" Target="/ppt/notesSlides/notesSlide4.xml" Id="R3644185e866a45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888b0befef408c" /><Relationship Type="http://schemas.openxmlformats.org/officeDocument/2006/relationships/notesSlide" Target="/ppt/notesSlides/notesSlide5.xml" Id="R1e145822f18f48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97dc011fd148b6" /><Relationship Type="http://schemas.openxmlformats.org/officeDocument/2006/relationships/notesSlide" Target="/ppt/notesSlides/notesSlide6.xml" Id="R719ed4821d0a4f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13913335b9418d" /><Relationship Type="http://schemas.openxmlformats.org/officeDocument/2006/relationships/notesSlide" Target="/ppt/notesSlides/notesSlide7.xml" Id="R6542f08afcfa4b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b7f235d98e46c0" /><Relationship Type="http://schemas.openxmlformats.org/officeDocument/2006/relationships/notesSlide" Target="/ppt/notesSlides/notesSlide8.xml" Id="Rb248a5821e954c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c362004b0d4521" /><Relationship Type="http://schemas.openxmlformats.org/officeDocument/2006/relationships/notesSlide" Target="/ppt/notesSlides/notesSlide9.xml" Id="R94718cca361f4f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d78985a6064457" /><Relationship Type="http://schemas.openxmlformats.org/officeDocument/2006/relationships/notesSlide" Target="/ppt/notesSlides/notesSlide10.xml" Id="Re9864221c5544d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A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6CA46-5E6A-4A57-A857-BF33E00B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VINSS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65A78-E8AE-44E2-AD38-56BAAB3A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66800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Private chat.</a:t>
            </a:r>
          </a:p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Agreed work.</a:t>
            </a:r>
          </a:p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Escrow settlement.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6F38B-E36F-4F7C-AC31-B0C73100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43450"/>
            <a:ext cx="9525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9DAC3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A9DAC3"/>
                </a:solidFill>
                <a:latin typeface="DejaVu Sans"/>
                <a:ea typeface="DejaVu Sans"/>
                <a:cs typeface="DejaVu Sans"/>
              </a:rPr>
              <a:t>A private deal workspace for clients and freelancers on Canton.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48D0F-ABE8-4A1C-96A5-6FBCEC1A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0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9DAC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9DAC3"/>
                </a:solidFill>
                <a:latin typeface="DejaVu Sans"/>
                <a:ea typeface="DejaVu Sans"/>
                <a:cs typeface="DejaVu Sans"/>
              </a:rPr>
              <a:t>HackCanton League Season 3</a:t>
            </a:r>
          </a:p>
        </p:txBody>
      </p:sp>
    </p:spTree>
    <p:extLst>
      <p:ext uri="{BB962C8B-B14F-4D97-AF65-F5344CB8AC3E}">
        <p14:creationId xmlns:p14="http://schemas.microsoft.com/office/powerpoint/2010/main" val="6413368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FD1F2-4E82-4A07-BC5C-59997D2B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The gap between chat and payment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10731-037F-4784-A4AF-F9E6C230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A direct client deal often loses its shared context.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10878-EE3E-4A28-9C04-1AEA39E3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43175"/>
            <a:ext cx="497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The freelancer needs to know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305E2-99E8-40D3-B5F5-A267F179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49720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Which scope did the client accept?</a:t>
            </a:r>
          </a:p>
          <a:p xmlns:a="http://schemas.openxmlformats.org/drawingml/2006/main">
            <a:pPr>
              <a:def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Is the payment funded?</a:t>
            </a:r>
          </a:p>
          <a:p xmlns:a="http://schemas.openxmlformats.org/drawingml/2006/main">
            <a:pPr>
              <a:def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What remains before settlement?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2F8DC-A309-4866-83DC-B3BB6413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497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The client needs to know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8942A-DC0D-404A-B5AC-295BE9CF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49720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What did the offer include?</a:t>
            </a:r>
          </a:p>
          <a:p xmlns:a="http://schemas.openxmlformats.org/drawingml/2006/main">
            <a:pPr>
              <a:def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Does the delivery match?</a:t>
            </a:r>
          </a:p>
          <a:p xmlns:a="http://schemas.openxmlformats.org/drawingml/2006/main">
            <a:pPr>
              <a:def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What does approval authorize?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D1408-0B7D-40E7-940F-B3041E46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53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45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45E"/>
                </a:solidFill>
                <a:latin typeface="DejaVu Sans"/>
                <a:ea typeface="DejaVu Sans"/>
                <a:cs typeface="DejaVu Sans"/>
              </a:rPr>
              <a:t>Initial use case: one client and one freelancer completing a defined digital task.</a:t>
            </a:r>
          </a:p>
        </p:txBody>
      </p:sp>
    </p:spTree>
    <p:extLst>
      <p:ext uri="{BB962C8B-B14F-4D97-AF65-F5344CB8AC3E}">
        <p14:creationId xmlns:p14="http://schemas.microsoft.com/office/powerpoint/2010/main" val="8992210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0648F-6B4D-4658-98D7-E511F5E9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One room for the deal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92B9F-33ED-470C-B149-593C1D79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An invite link or QR brings both people into the same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D79BC-87CB-4A98-9D2C-B1166711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D3EAA-3B55-43A0-A025-F6732284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Discuss and agree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F25F7-4762-4D0C-91A4-F09BCB4E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4267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Private messages lead to an accepted offer.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18A10-DC66-4706-85E3-9C6854ED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F0ACA-093D-472D-99CE-5055B112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574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Fund escrow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80201-B887-43F9-BC24-50798C9B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4267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The client authorizes the payment allocation.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84A05-FDD0-4BC1-AE9E-6BA3DB7E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E1343-5B0A-4350-A7CE-A5937DFD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Deliver and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85C14-66F4-409F-AED9-2873CF04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4267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The freelancer submits work. The client approves or requests revision.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1A6EE-38B4-46B6-AEBA-385E0EC8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15EBC-2C5F-44AF-B4C2-667FE70C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957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Settle payment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C4C71-33AD-4DD1-A178-AF9EE992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86300"/>
            <a:ext cx="4267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After approval, the freelancer settles and receives a ledger receipt.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290FE-B022-4FD8-96F2-F44E5CCA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53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45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45E"/>
                </a:solidFill>
                <a:latin typeface="DejaVu Sans"/>
                <a:ea typeface="DejaVu Sans"/>
                <a:cs typeface="DejaVu Sans"/>
              </a:rPr>
              <a:t>Encrypted group chat supports team discussion. Escrow currently uses two-person rooms.</a:t>
            </a:r>
          </a:p>
        </p:txBody>
      </p:sp>
    </p:spTree>
    <p:extLst>
      <p:ext uri="{BB962C8B-B14F-4D97-AF65-F5344CB8AC3E}">
        <p14:creationId xmlns:p14="http://schemas.microsoft.com/office/powerpoint/2010/main" val="21120964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6C54E-A2DA-458D-9055-4979B61B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Escrow has explicit payment states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EB897-972A-4EF1-BEFB-D6BE3B3D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Acceptance, funding and settlement each require their own action.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2381250"/>
          <a:ext xmlns:a="http://schemas.openxmlformats.org/drawingml/2006/main" cx="109347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4000500"/>
                <a:gridCol w="4410075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State</a:t>
                      </a:r>
                    </a:p>
                  </a:txBody>
                  <a:tcPr marL="142875" marR="142875" marT="76200" marB="76200">
                    <a:solidFill>
                      <a:srgbClr val="152A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Who acts</a:t>
                      </a:r>
                    </a:p>
                  </a:txBody>
                  <a:tcPr marL="142875" marR="142875" marT="76200" marB="76200">
                    <a:solidFill>
                      <a:srgbClr val="152A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What the state means</a:t>
                      </a:r>
                    </a:p>
                  </a:txBody>
                  <a:tcPr marL="142875" marR="142875" marT="76200" marB="76200">
                    <a:solidFill>
                      <a:srgbClr val="152A2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Accepted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Offer accepter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Both people have an agreement.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Funded</a:t>
                      </a:r>
                    </a:p>
                  </a:txBody>
                  <a:tcPr marL="142875" marR="14287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Client / reviewer</a:t>
                      </a:r>
                    </a:p>
                  </a:txBody>
                  <a:tcPr marL="142875" marR="14287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VINSS has validated the referenced token allocation.</a:t>
                      </a:r>
                    </a:p>
                  </a:txBody>
                  <a:tcPr marL="142875" marR="142875" marT="76200" marB="7620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Approved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Client / reviewer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submitted work has approval for the VINSS settlement path.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Settled</a:t>
                      </a:r>
                    </a:p>
                  </a:txBody>
                  <a:tcPr marL="142875" marR="14287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Freelancer / fulfiller</a:t>
                      </a:r>
                    </a:p>
                  </a:txBody>
                  <a:tcPr marL="142875" marR="14287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 token transfer completed and a receipt records the outcome.</a:t>
                      </a:r>
                    </a:p>
                  </a:txBody>
                  <a:tcPr marL="142875" marR="142875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4F9E7-8601-4F1F-A352-74C2178A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53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45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45E"/>
                </a:solidFill>
                <a:latin typeface="DejaVu Sans"/>
                <a:ea typeface="DejaVu Sans"/>
                <a:cs typeface="DejaVu Sans"/>
              </a:rPr>
              <a:t>VINSS references the allocation. The current module has no dispute or refund choice.</a:t>
            </a:r>
          </a:p>
        </p:txBody>
      </p:sp>
    </p:spTree>
    <p:extLst>
      <p:ext uri="{BB962C8B-B14F-4D97-AF65-F5344CB8AC3E}">
        <p14:creationId xmlns:p14="http://schemas.microsoft.com/office/powerpoint/2010/main" val="619698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2A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CBB88-D637-4C95-9D01-712E0CAB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Why Canton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EF832-82F0-4833-908A-2FAFD554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9DAC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A9DAC3"/>
                </a:solidFill>
                <a:latin typeface="DejaVu Sans"/>
                <a:ea typeface="DejaVu Sans"/>
                <a:cs typeface="DejaVu Sans"/>
              </a:rPr>
              <a:t>Private negotiation connects to an authorized business record.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8987D-AA98-45A8-9150-E1867D04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43175"/>
            <a:ext cx="497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9DAC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A9DAC3"/>
                </a:solidFill>
                <a:latin typeface="DejaVu Sans"/>
                <a:ea typeface="DejaVu Sans"/>
                <a:cs typeface="DejaVu Sans"/>
              </a:rPr>
              <a:t>Content privacy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6DD5F-96D7-4029-8007-4FE67066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49720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OpenMLS encrypts chat and detailed offer terms in the browser.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Members decrypt and keep plaintext history locally.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03C79-918D-4FD2-B162-CDCDC2A8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497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9DAC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A9DAC3"/>
                </a:solidFill>
                <a:latin typeface="DejaVu Sans"/>
                <a:ea typeface="DejaVu Sans"/>
                <a:cs typeface="DejaVu Sans"/>
              </a:rPr>
              <a:t>Deal 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D6813-0C3C-4E48-A349-1DF0FD0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49720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Canton controls contract visibility. Daml assigns each deal action to a Party.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Token Standard Allocations provide the payment mechanism.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8BD83-346F-4055-B95E-D6D0E459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53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DAC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DAC3"/>
                </a:solidFill>
                <a:latin typeface="DejaVu Sans"/>
                <a:ea typeface="DejaVu Sans"/>
                <a:cs typeface="DejaVu Sans"/>
              </a:rPr>
              <a:t>Authorized ledger viewers can see deal metadata, including amounts and Parties.</a:t>
            </a:r>
          </a:p>
        </p:txBody>
      </p:sp>
    </p:spTree>
    <p:extLst>
      <p:ext uri="{BB962C8B-B14F-4D97-AF65-F5344CB8AC3E}">
        <p14:creationId xmlns:p14="http://schemas.microsoft.com/office/powerpoint/2010/main" val="20521751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CEAB1-EBE4-463E-9151-81437C29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Recorded technical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7EACF-C947-4144-9500-63A94A93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A real DevNet settlement and a separate local messaging suite.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2381250"/>
          <a:ext xmlns:a="http://schemas.openxmlformats.org/drawingml/2006/main" cx="109347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14600"/>
                <a:gridCol w="4171950"/>
                <a:gridCol w="4248150"/>
              </a:tblGrid>
              <a:tr h="7858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</a:t>
                      </a:r>
                    </a:p>
                  </a:txBody>
                  <a:tcPr marL="142875" marR="142875" marT="76200" marB="76200">
                    <a:solidFill>
                      <a:srgbClr val="152A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Recorded result</a:t>
                      </a:r>
                    </a:p>
                  </a:txBody>
                  <a:tcPr marL="142875" marR="142875" marT="76200" marB="76200">
                    <a:solidFill>
                      <a:srgbClr val="152A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Scope</a:t>
                      </a:r>
                    </a:p>
                  </a:txBody>
                  <a:tcPr marL="142875" marR="142875" marT="76200" marB="76200">
                    <a:solidFill>
                      <a:srgbClr val="152A27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 Oct 2026 escrow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 CC transferred; receipt and receiver holding IDs retained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Real Canton DevNet run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 Oct 2026 test suite</a:t>
                      </a:r>
                    </a:p>
                  </a:txBody>
                  <a:tcPr marL="142875" marR="14287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69 tests passed across 24 files</a:t>
                      </a:r>
                    </a:p>
                  </a:txBody>
                  <a:tcPr marL="142875" marR="14287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Local automated tests</a:t>
                      </a:r>
                    </a:p>
                  </a:txBody>
                  <a:tcPr marL="142875" marR="142875" marT="76200" marB="7620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Messaging integration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test messages; Alice-Bob and three-member group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Real OpenMLS WASM; simulated ledger / wallet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B3B65-9F13-4429-802E-52C75B03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53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45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45E"/>
                </a:solidFill>
                <a:latin typeface="DejaVu Sans"/>
                <a:ea typeface="DejaVu Sans"/>
                <a:cs typeface="DejaVu Sans"/>
              </a:rPr>
              <a:t>The updated browser-wallet messaging flow still needs a fresh live recording.</a:t>
            </a:r>
          </a:p>
        </p:txBody>
      </p:sp>
    </p:spTree>
    <p:extLst>
      <p:ext uri="{BB962C8B-B14F-4D97-AF65-F5344CB8AC3E}">
        <p14:creationId xmlns:p14="http://schemas.microsoft.com/office/powerpoint/2010/main" val="20116670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50D9D-73B0-487D-B565-E19FE4F9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The first users already have a client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57EBE-B3C3-44E9-9032-0923B137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Direct invitations make the product useful before marketplace scale.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E6F35-20B8-4E3A-9E66-2A3C09CB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43175"/>
            <a:ext cx="497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Initial cohort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7C844-FE6A-4A9F-A4D7-7F2DF546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49720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3-5 client-freelancer pairs.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One defined digital deliverable, a named reviewer and compatible Canton wallets.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24004-DB1F-42E2-89D0-619195BB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497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What the pilot must show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72096-CFA5-47C0-9053-A2BA688B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49720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Both people can join and complete the funded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They understand approval and choose to return for a second task.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0D71E-5BC0-40D5-9C66-6322157C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53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45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45E"/>
                </a:solidFill>
                <a:latin typeface="DejaVu Sans"/>
                <a:ea typeface="DejaVu Sans"/>
                <a:cs typeface="DejaVu Sans"/>
              </a:rPr>
              <a:t>Proposed audience and pilot. Customer demand and retention are not yet measured.</a:t>
            </a:r>
          </a:p>
        </p:txBody>
      </p:sp>
    </p:spTree>
    <p:extLst>
      <p:ext uri="{BB962C8B-B14F-4D97-AF65-F5344CB8AC3E}">
        <p14:creationId xmlns:p14="http://schemas.microsoft.com/office/powerpoint/2010/main" val="10241472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53D62-C2F3-448C-B305-1B154100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A subscription for recurring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7D3BA-B6CA-4186-929B-9EBCEF6F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Optional VIP is the proposed commercial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A86EC-0F28-4044-BE08-F1801922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43175"/>
            <a:ext cx="497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Benefits to validate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03EF5-7E14-4258-8981-DA575A4A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19450"/>
            <a:ext cx="49720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Reusable offer templates.</a:t>
            </a:r>
          </a:p>
          <a:p xmlns:a="http://schemas.openxmlformats.org/drawingml/2006/main">
            <a:pPr>
              <a:def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Deal activity exports.</a:t>
            </a:r>
          </a:p>
          <a:p xmlns:a="http://schemas.openxmlformats.org/drawingml/2006/main">
            <a:pPr>
              <a:def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More marketplace listings.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The buyer is a freelancer or small team managing repeat projects.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7A04E-5FF5-421C-9462-5736E8F0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43175"/>
            <a:ext cx="497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How to test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99607-5BDD-4807-8D3D-4EA4D753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49720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Observe second deals and interview repeat users.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Identify the benefit they would pay for before setting a price or building billing.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873CF-56D8-4D0C-8589-92D0EB0E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53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45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45E"/>
                </a:solidFill>
                <a:latin typeface="DejaVu Sans"/>
                <a:ea typeface="DejaVu Sans"/>
                <a:cs typeface="DejaVu Sans"/>
              </a:rPr>
              <a:t>VIP billing and Points issuance are pending. Private chat and escrow are core features.</a:t>
            </a:r>
          </a:p>
        </p:txBody>
      </p:sp>
    </p:spTree>
    <p:extLst>
      <p:ext uri="{BB962C8B-B14F-4D97-AF65-F5344CB8AC3E}">
        <p14:creationId xmlns:p14="http://schemas.microsoft.com/office/powerpoint/2010/main" val="16014195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4DC96-32FD-434A-AED1-54CFE952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52A27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152A27"/>
                </a:solidFill>
                <a:latin typeface="DejaVu Sans"/>
                <a:ea typeface="DejaVu Sans"/>
                <a:cs typeface="DejaVu Sans"/>
              </a:rPr>
              <a:t>A pilot with measurable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8F40A-F639-41A9-8298-AFA83878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6C56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46C56"/>
                </a:solidFill>
                <a:latin typeface="DejaVu Sans"/>
                <a:ea typeface="DejaVu Sans"/>
                <a:cs typeface="DejaVu Sans"/>
              </a:rPr>
              <a:t>Recruit pairs, observe the first deal, then test repeat use.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28650" y="2381250"/>
          <a:ext xmlns:a="http://schemas.openxmlformats.org/drawingml/2006/main" cx="10934700" cy="3143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24125"/>
                <a:gridCol w="4000500"/>
                <a:gridCol w="4410075"/>
              </a:tblGrid>
              <a:tr h="7858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Proposed measure</a:t>
                      </a:r>
                    </a:p>
                  </a:txBody>
                  <a:tcPr marL="142875" marR="142875" marT="76200" marB="76200">
                    <a:solidFill>
                      <a:srgbClr val="152A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Target for a small pilot</a:t>
                      </a:r>
                    </a:p>
                  </a:txBody>
                  <a:tcPr marL="142875" marR="142875" marT="76200" marB="76200">
                    <a:solidFill>
                      <a:srgbClr val="152A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Decision</a:t>
                      </a:r>
                    </a:p>
                  </a:txBody>
                  <a:tcPr marL="142875" marR="142875" marT="76200" marB="76200">
                    <a:solidFill>
                      <a:srgbClr val="152A27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Invite and deal completion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 least 80% of controlled attempts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 recurring failures before expanding.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Repeat use</a:t>
                      </a:r>
                    </a:p>
                  </a:txBody>
                  <a:tcPr marL="142875" marR="14287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 least 2 pairs start a second task within 14 days</a:t>
                      </a:r>
                    </a:p>
                  </a:txBody>
                  <a:tcPr marL="142875" marR="142875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 whether the product solves a recurring need.</a:t>
                      </a:r>
                    </a:p>
                  </a:txBody>
                  <a:tcPr marL="142875" marR="142875" marT="76200" marB="7620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VIP interest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At least 2 repeat-user interviews identify willingness to pay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A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Choose a benefit for a pricing test.</a:t>
                      </a:r>
                    </a:p>
                  </a:txBody>
                  <a:tcPr marL="142875" marR="142875" marT="76200" marB="76200">
                    <a:solidFill>
                      <a:srgbClr val="F0F3EE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86987-4150-42A6-BFDB-72C3A79E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53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4645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45E"/>
                </a:solidFill>
                <a:latin typeface="DejaVu Sans"/>
                <a:ea typeface="DejaVu Sans"/>
                <a:cs typeface="DejaVu Sans"/>
              </a:rPr>
              <a:t>Targets are proposed, not achieved results. Report raw counts for the 3-5-pair cohort.</a:t>
            </a:r>
          </a:p>
        </p:txBody>
      </p:sp>
    </p:spTree>
    <p:extLst>
      <p:ext uri="{BB962C8B-B14F-4D97-AF65-F5344CB8AC3E}">
        <p14:creationId xmlns:p14="http://schemas.microsoft.com/office/powerpoint/2010/main" val="2931076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2A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786EA-8E6E-431F-9C86-4966D37B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0934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next Canton 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2AE04-C919-49F6-90A2-B155652B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76375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9DAC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A9DAC3"/>
                </a:solidFill>
                <a:latin typeface="DejaVu Sans"/>
                <a:ea typeface="DejaVu Sans"/>
                <a:cs typeface="DejaVu Sans"/>
              </a:rPr>
              <a:t>Complete the live wallet demonstration and the first observed pilot.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6A0A3-B7D7-40B5-90E8-10E12B01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62250"/>
            <a:ext cx="10763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Record current-release chat and group delivery.</a:t>
            </a:r>
          </a:p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Verify the funded deal through its settlement receipt.</a:t>
            </a:r>
          </a:p>
          <a:p xmlns:a="http://schemas.openxmlformats.org/drawingml/2006/main">
            <a:pPr>
              <a:def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Use participant feedback to resolve the biggest blockers.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706B3-7977-4DDC-A2C3-B5B21173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720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9DAC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9DAC3"/>
                </a:solidFill>
                <a:latin typeface="DejaVu Sans"/>
                <a:ea typeface="DejaVu Sans"/>
                <a:cs typeface="DejaVu Sans"/>
              </a:rPr>
              <a:t>vinss-canton.vercel.app</a:t>
            </a:r>
          </a:p>
          <a:p xmlns:a="http://schemas.openxmlformats.org/drawingml/2006/main">
            <a:pPr>
              <a:defRPr sz="1800" b="0">
                <a:solidFill>
                  <a:srgbClr val="A9DAC3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9DAC3"/>
                </a:solidFill>
                <a:latin typeface="DejaVu Sans"/>
                <a:ea typeface="DejaVu Sans"/>
                <a:cs typeface="DejaVu Sans"/>
              </a:rPr>
              <a:t>github.com/ntfound-dev/Vinss-canton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2174F-305C-42F0-BA47-97FB3C4B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534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DAC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9DAC3"/>
                </a:solidFill>
                <a:latin typeface="DejaVu Sans"/>
                <a:ea typeface="DejaVu Sans"/>
                <a:cs typeface="DejaVu Sans"/>
              </a:rPr>
              <a:t>Next product decisions: recovery, dispute/refund handling, self-service listings and VIP. Multichain follows Canton.</a:t>
            </a:r>
          </a:p>
        </p:txBody>
      </p:sp>
    </p:spTree>
    <p:extLst>
      <p:ext uri="{BB962C8B-B14F-4D97-AF65-F5344CB8AC3E}">
        <p14:creationId xmlns:p14="http://schemas.microsoft.com/office/powerpoint/2010/main" val="932949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2026-10-07T04:04:27.7070000Z</dcterms:created>
  <dcterms:modified xsi:type="dcterms:W3CDTF">2026-10-07T04:04:27.7070000Z</dcterms:modified>
</coreProperties>
</file>