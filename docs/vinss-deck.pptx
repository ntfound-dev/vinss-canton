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4b2fab7629547eb" /><Relationship Type="http://schemas.openxmlformats.org/officeDocument/2006/relationships/extended-properties" Target="/docProps/app.xml" Id="R441fc0f8af7e4e84" /><Relationship Type="http://schemas.openxmlformats.org/officeDocument/2006/relationships/officeDocument" Target="/ppt/presentation.xml" Id="R5b199245707c45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ce4d78b28c4222"/>
  </p:sldMasterIdLst>
  <p:notesMasterIdLst>
    <p:notesMasterId xmlns:r="http://schemas.openxmlformats.org/officeDocument/2006/relationships" r:id="Rb66621df775a46e2"/>
  </p:notesMasterIdLst>
  <p:sldIdLst>
    <p:sldId xmlns:r="http://schemas.openxmlformats.org/officeDocument/2006/relationships" id="256" r:id="R85bd0d855d544c35"/>
    <p:sldId xmlns:r="http://schemas.openxmlformats.org/officeDocument/2006/relationships" id="257" r:id="R08ead7ba11ac40d9"/>
    <p:sldId xmlns:r="http://schemas.openxmlformats.org/officeDocument/2006/relationships" id="258" r:id="R2ae5dad0c47d402b"/>
    <p:sldId xmlns:r="http://schemas.openxmlformats.org/officeDocument/2006/relationships" id="259" r:id="Ra0863eb3b16344e8"/>
    <p:sldId xmlns:r="http://schemas.openxmlformats.org/officeDocument/2006/relationships" id="260" r:id="R6f33d70bbe7c463c"/>
    <p:sldId xmlns:r="http://schemas.openxmlformats.org/officeDocument/2006/relationships" id="261" r:id="Re76e3d0efc3b4415"/>
    <p:sldId xmlns:r="http://schemas.openxmlformats.org/officeDocument/2006/relationships" id="262" r:id="R55a6253912d44c48"/>
    <p:sldId xmlns:r="http://schemas.openxmlformats.org/officeDocument/2006/relationships" id="263" r:id="Rf4cb9f2b555841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451f7ddf7ca423e" /><Relationship Type="http://schemas.openxmlformats.org/officeDocument/2006/relationships/slideMaster" Target="/ppt/slideMasters/slideMaster1.xml" Id="Refce4d78b28c4222" /><Relationship Type="http://schemas.openxmlformats.org/officeDocument/2006/relationships/notesMaster" Target="/ppt/notesMasters/notesMaster1.xml" Id="Rb66621df775a46e2" /><Relationship Type="http://schemas.openxmlformats.org/officeDocument/2006/relationships/presProps" Target="/ppt/presProps.xml" Id="R0a740361f3c943d2" /><Relationship Type="http://schemas.openxmlformats.org/officeDocument/2006/relationships/tableStyles" Target="/ppt/tableStyles.xml" Id="Rdde20b90b3fb40cb" /><Relationship Type="http://schemas.openxmlformats.org/officeDocument/2006/relationships/slide" Target="/ppt/slides/slide1.xml" Id="R85bd0d855d544c35" /><Relationship Type="http://schemas.openxmlformats.org/officeDocument/2006/relationships/slide" Target="/ppt/slides/slide2.xml" Id="R08ead7ba11ac40d9" /><Relationship Type="http://schemas.openxmlformats.org/officeDocument/2006/relationships/slide" Target="/ppt/slides/slide3.xml" Id="R2ae5dad0c47d402b" /><Relationship Type="http://schemas.openxmlformats.org/officeDocument/2006/relationships/slide" Target="/ppt/slides/slide4.xml" Id="Ra0863eb3b16344e8" /><Relationship Type="http://schemas.openxmlformats.org/officeDocument/2006/relationships/slide" Target="/ppt/slides/slide5.xml" Id="R6f33d70bbe7c463c" /><Relationship Type="http://schemas.openxmlformats.org/officeDocument/2006/relationships/slide" Target="/ppt/slides/slide6.xml" Id="Re76e3d0efc3b4415" /><Relationship Type="http://schemas.openxmlformats.org/officeDocument/2006/relationships/slide" Target="/ppt/slides/slide7.xml" Id="R55a6253912d44c48" /><Relationship Type="http://schemas.openxmlformats.org/officeDocument/2006/relationships/slide" Target="/ppt/slides/slide8.xml" Id="Rf4cb9f2b555841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2e0dbeb283448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57b24d8ee594b30" /><Relationship Type="http://schemas.openxmlformats.org/officeDocument/2006/relationships/notesMaster" Target="/ppt/notesMasters/notesMaster1.xml" Id="Ra101bfaf9d1e48e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1b76c024874121" /><Relationship Type="http://schemas.openxmlformats.org/officeDocument/2006/relationships/notesMaster" Target="/ppt/notesMasters/notesMaster1.xml" Id="Rca561d6e091a45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40a8dc47ed4aeb" /><Relationship Type="http://schemas.openxmlformats.org/officeDocument/2006/relationships/notesMaster" Target="/ppt/notesMasters/notesMaster1.xml" Id="Re4306a52cc7a46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b87d8904724ea6" /><Relationship Type="http://schemas.openxmlformats.org/officeDocument/2006/relationships/notesMaster" Target="/ppt/notesMasters/notesMaster1.xml" Id="R209ac80bec004f5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fe79b51165f4c9f" /><Relationship Type="http://schemas.openxmlformats.org/officeDocument/2006/relationships/notesMaster" Target="/ppt/notesMasters/notesMaster1.xml" Id="R2747a487c42e40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2428e02d1348ab" /><Relationship Type="http://schemas.openxmlformats.org/officeDocument/2006/relationships/notesMaster" Target="/ppt/notesMasters/notesMaster1.xml" Id="R81848e08e587428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ef315ec578541cf" /><Relationship Type="http://schemas.openxmlformats.org/officeDocument/2006/relationships/notesMaster" Target="/ppt/notesMasters/notesMaster1.xml" Id="R1272f0839aa44d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32b6df62abb4e05" /><Relationship Type="http://schemas.openxmlformats.org/officeDocument/2006/relationships/notesMaster" Target="/ppt/notesMasters/notesMaster1.xml" Id="Rd3ef982e25f64e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VINSS source revision: 07f45ae95f7b6eebddc176892e8756fc1b841571</a:t>
            </a:r>
          </a:p>
          <a:p xmlns:a="http://schemas.openxmlformats.org/drawingml/2006/main">
            <a:r>
              <a:t>Sources: README.md; docs/BUSINESS_BRIEF.md</a:t>
            </a:r>
          </a:p>
          <a:p xmlns:a="http://schemas.openxmlformats.org/drawingml/2006/main">
            <a:r>
              <a:t>Current business plans are hypotheses. Local real-WASM messaging verification uses simulated ledger/wallet access. Earlier DevNet settlement is separate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VINSS source revision: 07f45ae95f7b6eebddc176892e8756fc1b841571</a:t>
            </a:r>
          </a:p>
          <a:p xmlns:a="http://schemas.openxmlformats.org/drawingml/2006/main">
            <a:r>
              <a:t>Sources: docs/VALUE_STATEMENT.md; docs/ICP_AUDIENCE.md</a:t>
            </a:r>
          </a:p>
          <a:p xmlns:a="http://schemas.openxmlformats.org/drawingml/2006/main">
            <a:r>
              <a:t>Current business plans are hypotheses. Local real-WASM messaging verification uses simulated ledger/wallet access. Earlier DevNet settlement is separate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VINSS source revision: 07f45ae95f7b6eebddc176892e8756fc1b841571</a:t>
            </a:r>
          </a:p>
          <a:p xmlns:a="http://schemas.openxmlformats.org/drawingml/2006/main">
            <a:r>
              <a:t>Sources: frontend/lib/canton-invite.ts; frontend/lib/canton-room-runtime.ts; daml/Vinss/Deal.daml</a:t>
            </a:r>
          </a:p>
          <a:p xmlns:a="http://schemas.openxmlformats.org/drawingml/2006/main">
            <a:r>
              <a:t>Current business plans are hypotheses. Local real-WASM messaging verification uses simulated ledger/wallet access. Earlier DevNet settlement is separate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VINSS source revision: 07f45ae95f7b6eebddc176892e8756fc1b841571</a:t>
            </a:r>
          </a:p>
          <a:p xmlns:a="http://schemas.openxmlformats.org/drawingml/2006/main">
            <a:r>
              <a:t>Sources: docs/ARCHITECTURE.md; daml/Vinss/Messaging.daml; daml/Vinss/Deal.daml</a:t>
            </a:r>
          </a:p>
          <a:p xmlns:a="http://schemas.openxmlformats.org/drawingml/2006/main">
            <a:r>
              <a:t>Current business plans are hypotheses. Local real-WASM messaging verification uses simulated ledger/wallet access. Earlier DevNet settlement is separate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VINSS source revision: 07f45ae95f7b6eebddc176892e8756fc1b841571</a:t>
            </a:r>
          </a:p>
          <a:p xmlns:a="http://schemas.openxmlformats.org/drawingml/2006/main">
            <a:r>
              <a:t>Sources: docs/CANTON_DEVNET_E2E.md#verified-devnet-run-evidence; docs/MESSAGING_E2E.md; tests/integration/messaging-scenario.mjs</a:t>
            </a:r>
          </a:p>
          <a:p xmlns:a="http://schemas.openxmlformats.org/drawingml/2006/main">
            <a:r>
              <a:t>Current business plans are hypotheses. Local real-WASM messaging verification uses simulated ledger/wallet access. Earlier DevNet settlement is separate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VINSS source revision: 07f45ae95f7b6eebddc176892e8756fc1b841571</a:t>
            </a:r>
          </a:p>
          <a:p xmlns:a="http://schemas.openxmlformats.org/drawingml/2006/main">
            <a:r>
              <a:t>Sources: docs/ICP_AUDIENCE.md; docs/PILOT_PLAN.md</a:t>
            </a:r>
          </a:p>
          <a:p xmlns:a="http://schemas.openxmlformats.org/drawingml/2006/main">
            <a:r>
              <a:t>Current business plans are hypotheses. Local real-WASM messaging verification uses simulated ledger/wallet access. Earlier DevNet settlement is separate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VINSS source revision: 07f45ae95f7b6eebddc176892e8756fc1b841571</a:t>
            </a:r>
          </a:p>
          <a:p xmlns:a="http://schemas.openxmlformats.org/drawingml/2006/main">
            <a:r>
              <a:t>Sources: docs/GTM.md; docs/BUSINESS_BRIEF.md; frontend/app/rewards/page.tsx</a:t>
            </a:r>
          </a:p>
          <a:p xmlns:a="http://schemas.openxmlformats.org/drawingml/2006/main">
            <a:r>
              <a:t>Current business plans are hypotheses. Local real-WASM messaging verification uses simulated ledger/wallet access. Earlier DevNet settlement is separate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VINSS source revision: 07f45ae95f7b6eebddc176892e8756fc1b841571</a:t>
            </a:r>
          </a:p>
          <a:p xmlns:a="http://schemas.openxmlformats.org/drawingml/2006/main">
            <a:r>
              <a:t>Sources: docs/PILOT_PLAN.md; docs/SUBMISSION.md</a:t>
            </a:r>
          </a:p>
          <a:p xmlns:a="http://schemas.openxmlformats.org/drawingml/2006/main">
            <a:r>
              <a:t>Current business plans are hypotheses. Local real-WASM messaging verification uses simulated ledger/wallet access. Earlier DevNet settlement is separate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c3d32d2ef4425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81b75369fb41e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f05bb1ed41423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61dc9b50b4419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eddd422c4641c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03ba52d297449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F8B251D6-5597-47B1-B699-9C5327796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0D6EC5D-47D5-464D-B40C-369DDDA171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737B8317-DF9F-4137-9674-65FAB597394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6D21180-8E34-47B1-952D-BC787C9F9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EAF32BF-31FA-474F-A6D5-E5F884F1CD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9BE1835-016E-44A6-941E-602D6E96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025427-8AF0-4A94-A84A-22660ED1C1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EBFC85DD-FC45-4E3C-9366-1D69049F678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9B0F3B86-327F-4699-831B-A1E81AF4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F520BB4-A401-43A7-AA0F-F65B0ED8FB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D9C8475-8D9A-42FE-86C7-6D5F603E131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CF90A83-B6F3-41A9-8D08-E31AAA7082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C959DEB3-5892-4BC9-969C-CA7899F6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97FD716-36EB-4325-B1C0-65CDE02394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50304FB-E972-4D72-A154-759C332395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b207dccd0d94ca0" /><Relationship Type="http://schemas.openxmlformats.org/officeDocument/2006/relationships/slideLayout" Target="/ppt/slideLayouts/slideLayout1.xml" Id="R6b26646a944d4e15" /><Relationship Type="http://schemas.openxmlformats.org/officeDocument/2006/relationships/slideLayout" Target="/ppt/slideLayouts/slideLayout2.xml" Id="Redb9310527a84d7b" /><Relationship Type="http://schemas.openxmlformats.org/officeDocument/2006/relationships/slideLayout" Target="/ppt/slideLayouts/slideLayout3.xml" Id="Rc23c73b71cd24851" /><Relationship Type="http://schemas.openxmlformats.org/officeDocument/2006/relationships/slideLayout" Target="/ppt/slideLayouts/slideLayout4.xml" Id="R83c6864f0ff245b6" /><Relationship Type="http://schemas.openxmlformats.org/officeDocument/2006/relationships/slideLayout" Target="/ppt/slideLayouts/slideLayout5.xml" Id="R4c363cce892b4c5a" /><Relationship Type="http://schemas.openxmlformats.org/officeDocument/2006/relationships/slideLayout" Target="/ppt/slideLayouts/slideLayout6.xml" Id="Rba2648088d624b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26646a944d4e15"/>
    <p:sldLayoutId xmlns:r="http://schemas.openxmlformats.org/officeDocument/2006/relationships" id="2147483650" r:id="Redb9310527a84d7b"/>
    <p:sldLayoutId xmlns:r="http://schemas.openxmlformats.org/officeDocument/2006/relationships" id="2147483651" r:id="Rc23c73b71cd24851"/>
    <p:sldLayoutId xmlns:r="http://schemas.openxmlformats.org/officeDocument/2006/relationships" id="2147483652" r:id="R83c6864f0ff245b6"/>
    <p:sldLayoutId xmlns:r="http://schemas.openxmlformats.org/officeDocument/2006/relationships" id="2147483653" r:id="R4c363cce892b4c5a"/>
    <p:sldLayoutId xmlns:r="http://schemas.openxmlformats.org/officeDocument/2006/relationships" id="2147483654" r:id="Rba2648088d624b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ebf9cf2f80487e" /><Relationship Type="http://schemas.openxmlformats.org/officeDocument/2006/relationships/notesSlide" Target="/ppt/notesSlides/notesSlide1.xml" Id="R9902f0a6e4854f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ef600b7b144dcd" /><Relationship Type="http://schemas.openxmlformats.org/officeDocument/2006/relationships/notesSlide" Target="/ppt/notesSlides/notesSlide2.xml" Id="R0c6079b7e82348e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bc9b83ab9c4b91" /><Relationship Type="http://schemas.openxmlformats.org/officeDocument/2006/relationships/notesSlide" Target="/ppt/notesSlides/notesSlide3.xml" Id="R7f42b2633ce44f4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ad65b6335d459b" /><Relationship Type="http://schemas.openxmlformats.org/officeDocument/2006/relationships/notesSlide" Target="/ppt/notesSlides/notesSlide4.xml" Id="R6cc6765b7845447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4169611a3149e2" /><Relationship Type="http://schemas.openxmlformats.org/officeDocument/2006/relationships/notesSlide" Target="/ppt/notesSlides/notesSlide5.xml" Id="Re7c5ba01942b419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99057b27244ed1" /><Relationship Type="http://schemas.openxmlformats.org/officeDocument/2006/relationships/notesSlide" Target="/ppt/notesSlides/notesSlide6.xml" Id="Rb6b7d40553094e0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4d3908d1f04df4" /><Relationship Type="http://schemas.openxmlformats.org/officeDocument/2006/relationships/notesSlide" Target="/ppt/notesSlides/notesSlide7.xml" Id="Rfe60f689a703468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55cdb5d61c44f7" /><Relationship Type="http://schemas.openxmlformats.org/officeDocument/2006/relationships/notesSlide" Target="/ppt/notesSlides/notesSlide8.xml" Id="Rf8ec1f2a0e924a3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D9C875-733A-4923-AC58-D8B6AC4C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952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570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VINSS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4E2CCF-ED6E-450F-B30E-794F0CFA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1028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87F80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087F80"/>
                </a:solidFill>
                <a:latin typeface="DejaVu Sans"/>
                <a:ea typeface="DejaVu Sans"/>
                <a:cs typeface="DejaVu Sans"/>
              </a:rPr>
              <a:t>Private deals between people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5E810A-B05B-4BD9-8011-58B6F1068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14725"/>
            <a:ext cx="8953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550" b="0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Discuss the work privately. Agree on an offer. Settle payment after approval.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D88B30-EB5C-4F97-B760-2BF465BE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864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46B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2646B"/>
                </a:solidFill>
                <a:latin typeface="DejaVu Sans"/>
                <a:ea typeface="DejaVu Sans"/>
                <a:cs typeface="DejaVu Sans"/>
              </a:rPr>
              <a:t>Canton MVP - HackCanton League Season 3</a:t>
            </a:r>
          </a:p>
        </p:txBody>
      </p:sp>
    </p:spTree>
    <p:extLst>
      <p:ext uri="{BB962C8B-B14F-4D97-AF65-F5344CB8AC3E}">
        <p14:creationId xmlns:p14="http://schemas.microsoft.com/office/powerpoint/2010/main" val="706035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6EE409-A393-4E69-BA76-250DF32D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The client-work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25ACF9-4126-440E-83C4-306A57263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648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087F80"/>
                </a:solidFill>
                <a:latin typeface="DejaVu Sans"/>
                <a:ea typeface="DejaVu Sans"/>
                <a:cs typeface="DejaVu Sans"/>
              </a:rPr>
              <a:t>The agreement and payment status live in different places.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161FD3-D18B-43B0-9A49-11B66CCB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905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Client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2DE67B-29DB-4782-A7B6-8E28307F6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905375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Connect the delivered work to the accepted scope. Understand what approving it authorizes.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1E41F8-FAF8-49F2-81B4-8470B381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4905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Freelancer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554A88-4670-4CBD-B0F1-3D572624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09950"/>
            <a:ext cx="4905375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Confirm which terms were accepted and whether payment is funded. Track what remains before settlement.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D76892-98CF-4F3C-A44D-79EF68C26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38850"/>
            <a:ext cx="10401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2646B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2646B"/>
                </a:solidFill>
                <a:latin typeface="DejaVu Sans"/>
                <a:ea typeface="DejaVu Sans"/>
                <a:cs typeface="DejaVu Sans"/>
              </a:rPr>
              <a:t>Initial use case: one client, one freelancer, one bounded digital deliverable.</a:t>
            </a:r>
          </a:p>
        </p:txBody>
      </p:sp>
    </p:spTree>
    <p:extLst>
      <p:ext uri="{BB962C8B-B14F-4D97-AF65-F5344CB8AC3E}">
        <p14:creationId xmlns:p14="http://schemas.microsoft.com/office/powerpoint/2010/main" val="20973997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BEB9F2-14DF-40ED-B859-18865413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The VINSS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B4A61B-8BB9-40A3-BE85-0B0D1C11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648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087F80"/>
                </a:solidFill>
                <a:latin typeface="DejaVu Sans"/>
                <a:ea typeface="DejaVu Sans"/>
                <a:cs typeface="DejaVu Sans"/>
              </a:rPr>
              <a:t>A private room connects work terms to the ledger record.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0674BF-D0A7-4E15-A7D1-D9866C58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4905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01  Invite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14195-BEB0-48C1-9FFB-FB37A542C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4905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Open a link or QR and connect a Canton wallet.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A991CD-E948-44AE-9DCF-3148D3D8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590800"/>
            <a:ext cx="4905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02  Agree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E57AD3-7702-40A2-9486-5BA21BA1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181350"/>
            <a:ext cx="4905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Discuss work and accept an offer with private terms.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21EC3-9205-420C-AEA2-ACB3DA9FF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4905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03  Fund escrow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B67E51-7AE6-4C7B-BADC-88992144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905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Create the allocation-backed escrow and submit work.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D382D6-86C0-4D3C-87B8-4919F927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71950"/>
            <a:ext cx="4905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04  Review and settle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7E7215-A644-4D60-A733-5D9FA87D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762500"/>
            <a:ext cx="4905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Review delivery, approve and produce a settlement receipt.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361125-CC23-42D7-B66D-CA5E3F6A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38850"/>
            <a:ext cx="10401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2646B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2646B"/>
                </a:solidFill>
                <a:latin typeface="DejaVu Sans"/>
                <a:ea typeface="DejaVu Sans"/>
                <a:cs typeface="DejaVu Sans"/>
              </a:rPr>
              <a:t>Groups support encrypted discussion. Offers and escrow remain between two Parties.</a:t>
            </a:r>
          </a:p>
        </p:txBody>
      </p:sp>
    </p:spTree>
    <p:extLst>
      <p:ext uri="{BB962C8B-B14F-4D97-AF65-F5344CB8AC3E}">
        <p14:creationId xmlns:p14="http://schemas.microsoft.com/office/powerpoint/2010/main" val="13824279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DF4A53-D4C5-471C-8951-31C7BE53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Why Canton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80E0F1-11FE-44A9-A919-D1770153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648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087F80"/>
                </a:solidFill>
                <a:latin typeface="DejaVu Sans"/>
                <a:ea typeface="DejaVu Sans"/>
                <a:cs typeface="DejaVu Sans"/>
              </a:rPr>
              <a:t>Content privacy and workflow authority have separate jobs.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07BC8B-02F1-4A31-B524-9C2D53395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905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OpenMLS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9B6405-1BF5-4A58-81B5-C8466A84F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905375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The browser encrypts messages, detailed offer terms and group membership content.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212C86-1699-461D-9627-97F994D1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4905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Canton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CB8604-67F8-4263-BDEF-63A56F8D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09950"/>
            <a:ext cx="4905375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Parties sign contracts. Ledger visibility limits disclosure. Daml enforces deal actions and CIP-56 connects settlement.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304BD6-B897-497E-9080-5DF51C7B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38850"/>
            <a:ext cx="10401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2646B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2646B"/>
                </a:solidFill>
                <a:latin typeface="DejaVu Sans"/>
                <a:ea typeface="DejaVu Sans"/>
                <a:cs typeface="DejaVu Sans"/>
              </a:rPr>
              <a:t>Authorized ledger viewers can see metadata and deal amounts. Local history is plaintext in the browser.</a:t>
            </a:r>
          </a:p>
        </p:txBody>
      </p:sp>
    </p:spTree>
    <p:extLst>
      <p:ext uri="{BB962C8B-B14F-4D97-AF65-F5344CB8AC3E}">
        <p14:creationId xmlns:p14="http://schemas.microsoft.com/office/powerpoint/2010/main" val="463099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B39DDF-729E-460C-8AA5-B402569D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Evidence already recorded</a:t>
            </a:r>
          </a:p>
        </p:txBody>
      </p:sp>
      <p:graphicFrame>
        <p:nvGraphicFramePr>
          <p:cNvPr id="5" name=""/>
          <p:cNvGraphicFramePr/>
          <p:nvPr/>
        </p:nvGraphicFramePr>
        <p:xfrm>
          <a:off xmlns:a="http://schemas.openxmlformats.org/drawingml/2006/main" x="685800" y="1885950"/>
          <a:ext xmlns:a="http://schemas.openxmlformats.org/drawingml/2006/main" cx="10820400" cy="36957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95650"/>
                <a:gridCol w="4210050"/>
                <a:gridCol w="3314700"/>
              </a:tblGrid>
              <a:tr h="9239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Evidence</a:t>
                      </a:r>
                    </a:p>
                  </a:txBody>
                  <a:tcPr marL="152400" marR="152400" marT="133350" marB="114300">
                    <a:solidFill>
                      <a:srgbClr val="142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Result</a:t>
                      </a:r>
                    </a:p>
                  </a:txBody>
                  <a:tcPr marL="152400" marR="152400" marT="133350" marB="114300">
                    <a:solidFill>
                      <a:srgbClr val="142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Scope</a:t>
                      </a:r>
                    </a:p>
                  </a:txBody>
                  <a:tcPr marL="152400" marR="152400" marT="133350" marB="114300">
                    <a:solidFill>
                      <a:srgbClr val="142D31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2D3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DevNet escrow, 6 Oct 2026</a:t>
                      </a:r>
                    </a:p>
                  </a:txBody>
                  <a:tcPr marL="152400" marR="152400" marT="133350" marB="114300"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2D3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 CC settled, receipt and Holding IDs</a:t>
                      </a:r>
                    </a:p>
                  </a:txBody>
                  <a:tcPr marL="152400" marR="152400" marT="133350" marB="114300"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2D3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Earlier real network run</a:t>
                      </a:r>
                    </a:p>
                  </a:txBody>
                  <a:tcPr marL="152400" marR="152400" marT="133350" marB="114300">
                    <a:solidFill>
                      <a:srgbClr val="FFFDFA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2D3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Automated tests, 7 Oct 2026</a:t>
                      </a:r>
                    </a:p>
                  </a:txBody>
                  <a:tcPr marL="152400" marR="152400" marT="133350" marB="114300"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2D3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69 passed across 24 files</a:t>
                      </a:r>
                    </a:p>
                  </a:txBody>
                  <a:tcPr marL="152400" marR="152400" marT="133350" marB="114300"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2D3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Local tests</a:t>
                      </a:r>
                    </a:p>
                  </a:txBody>
                  <a:tcPr marL="152400" marR="152400" marT="133350" marB="114300">
                    <a:solidFill>
                      <a:srgbClr val="FFFDFA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2D3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OpenMLS messaging scenario</a:t>
                      </a:r>
                    </a:p>
                  </a:txBody>
                  <a:tcPr marL="152400" marR="152400" marT="133350" marB="114300"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2D3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 messages, three-member group</a:t>
                      </a:r>
                    </a:p>
                  </a:txBody>
                  <a:tcPr marL="152400" marR="152400" marT="133350" marB="114300"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2D31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Real WASM, simulated ledger</a:t>
                      </a:r>
                    </a:p>
                  </a:txBody>
                  <a:tcPr marL="152400" marR="152400" marT="133350" marB="114300">
                    <a:solidFill>
                      <a:srgbClr val="FFFDFA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50C22-6540-4DF0-9640-1C8682C8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38850"/>
            <a:ext cx="10401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2646B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2646B"/>
                </a:solidFill>
                <a:latin typeface="DejaVu Sans"/>
                <a:ea typeface="DejaVu Sans"/>
                <a:cs typeface="DejaVu Sans"/>
              </a:rPr>
              <a:t>A fresh live wallet run of the updated messaging release remains to be recorded.</a:t>
            </a:r>
          </a:p>
        </p:txBody>
      </p:sp>
    </p:spTree>
    <p:extLst>
      <p:ext uri="{BB962C8B-B14F-4D97-AF65-F5344CB8AC3E}">
        <p14:creationId xmlns:p14="http://schemas.microsoft.com/office/powerpoint/2010/main" val="1707701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4693C-EC38-45B5-91B5-19EBB0B1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The first users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DE4197-D19F-40D2-834D-BB5F80AD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648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087F80"/>
                </a:solidFill>
                <a:latin typeface="DejaVu Sans"/>
                <a:ea typeface="DejaVu Sans"/>
                <a:cs typeface="DejaVu Sans"/>
              </a:rPr>
              <a:t>Start with direct clients, then expand marketplace supply.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AF335-FA15-49A1-A5A9-E024D7D5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905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Initial pilot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E4CBA9-0A3D-427B-AF38-8D8F33D9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905375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A proposed 3-5 pairs doing design, development or writing work. Begin with compatible wallets and test tokens.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31822A-6ADE-4A5D-9EBE-EE74A9E0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4905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What to learn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F0635E-052E-4120-9BA7-553B0871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09950"/>
            <a:ext cx="4905375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Successful invite joins, complete funded workflows, wallet failures, repeat use and participant interviews.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B886C0-C3AA-4717-B02B-AF425915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38850"/>
            <a:ext cx="10401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2646B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2646B"/>
                </a:solidFill>
                <a:latin typeface="DejaVu Sans"/>
                <a:ea typeface="DejaVu Sans"/>
                <a:cs typeface="DejaVu Sans"/>
              </a:rPr>
              <a:t>These are pilot targets and proposed metrics. No paying-user or retention figures are claimed.</a:t>
            </a:r>
          </a:p>
        </p:txBody>
      </p:sp>
    </p:spTree>
    <p:extLst>
      <p:ext uri="{BB962C8B-B14F-4D97-AF65-F5344CB8AC3E}">
        <p14:creationId xmlns:p14="http://schemas.microsoft.com/office/powerpoint/2010/main" val="514578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47CB49-D7A3-4B26-94B4-B82BE624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Business and distribution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68D21E-71FB-4900-B238-0DDCCFAD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648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087F80"/>
                </a:solidFill>
                <a:latin typeface="DejaVu Sans"/>
                <a:ea typeface="DejaVu Sans"/>
                <a:cs typeface="DejaVu Sans"/>
              </a:rPr>
              <a:t>Completed engagements can bring the next client.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1CF2F-9495-43C0-A0D9-E5544D46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905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Acquisition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83271E-40D0-4626-ABD4-46B2B780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905375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Recruit freelance pairs through proposed community channels. Use completed workflows as consented case studies and test counterparty referrals.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8E0296-149F-4852-841D-23DD0B43B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4905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Optional VIP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586A00-3C54-4C9F-911E-346753BD1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09950"/>
            <a:ext cx="4905375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Validate willingness to pay for repeat-project tools. Templates, listings and exports appear in the preview. Pricing and billing remain pending.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1562C9-7821-4D0D-B648-10D2627A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38850"/>
            <a:ext cx="10401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2646B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2646B"/>
                </a:solidFill>
                <a:latin typeface="DejaVu Sans"/>
                <a:ea typeface="DejaVu Sans"/>
                <a:cs typeface="DejaVu Sans"/>
              </a:rPr>
              <a:t>Points are planned. No transaction-fee schedule, reward income or confirmed partnership is assumed.</a:t>
            </a:r>
          </a:p>
        </p:txBody>
      </p:sp>
    </p:spTree>
    <p:extLst>
      <p:ext uri="{BB962C8B-B14F-4D97-AF65-F5344CB8AC3E}">
        <p14:creationId xmlns:p14="http://schemas.microsoft.com/office/powerpoint/2010/main" val="14972727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E2757E-C17B-45B0-8841-FDD17830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The next Canton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D53C9C-BDDE-4686-8F1D-29F951B7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648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087F80"/>
                </a:solidFill>
                <a:latin typeface="DejaVu Sans"/>
                <a:ea typeface="DejaVu Sans"/>
                <a:cs typeface="DejaVu Sans"/>
              </a:rPr>
              <a:t>Verify the current release, then validate repeat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A14731-AA36-4A4E-A328-E4307CA0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905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Immediate proof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2F237B-F327-430E-AD76-E5DCB679C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905375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Record isolated-wallet invitation, private chat, group messaging and settlement. Retain actual update IDs and visibility results.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B7138E-3190-479A-86A7-48F0E406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4905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Expansion gate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10196F-E69C-4A72-9660-7864319B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09950"/>
            <a:ext cx="4905375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42D31"/>
                </a:solidFill>
                <a:latin typeface="DejaVu Sans"/>
                <a:ea typeface="DejaVu Sans"/>
                <a:cs typeface="DejaVu Sans"/>
              </a:rPr>
              <a:t>Resolve reliability failures and define dispute/refund handling. Then add self-service publishing and validate VIP. Multichain comes later.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BC84BB-296A-4B7A-B550-37FFF771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38850"/>
            <a:ext cx="10401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2646B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2646B"/>
                </a:solidFill>
                <a:latin typeface="DejaVu Sans"/>
                <a:ea typeface="DejaVu Sans"/>
                <a:cs typeface="DejaVu Sans"/>
              </a:rPr>
              <a:t>App: vinss-canton.vercel.app     Repository: github.com/ntfound-dev/Vinss-canton</a:t>
            </a:r>
          </a:p>
        </p:txBody>
      </p:sp>
    </p:spTree>
    <p:extLst>
      <p:ext uri="{BB962C8B-B14F-4D97-AF65-F5344CB8AC3E}">
        <p14:creationId xmlns:p14="http://schemas.microsoft.com/office/powerpoint/2010/main" val="15551936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2026-10-07T03:14:27.5720000Z</dcterms:created>
  <dcterms:modified xsi:type="dcterms:W3CDTF">2026-10-07T03:14:27.5720000Z</dcterms:modified>
</coreProperties>
</file>